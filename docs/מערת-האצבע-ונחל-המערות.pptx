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4A2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2D1B0E">
              <a:alpha val="75000"/>
            </a:srgbClr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2331720"/>
            <a:ext cx="10725912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794760"/>
            <a:ext cx="1072591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000" dirty="0">
                <a:solidFill>
                  <a:srgbClr val="C9A26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FE6D8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64592"/>
            <a:ext cx="9784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644652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2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מערת האצבע ונחל המערות – חומר רקע לטיול הכיתתי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233172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rtl="1" algn="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מערת האצבע ונחל המערות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794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C9A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מסע אל קדמת האדם – חומר הכנה לטיול הכיתתי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149840" y="548640"/>
            <a:ext cx="1463040" cy="1463040"/>
          </a:xfrm>
          <a:prstGeom prst="ellipse">
            <a:avLst/>
          </a:prstGeom>
          <a:solidFill>
            <a:srgbClr val="B85042">
              <a:alpha val="85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10378440" y="77724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64592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מערת האצבע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237744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1710" y="298094"/>
            <a:ext cx="427939" cy="4279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417320"/>
            <a:ext cx="1072591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ממוקמת על רכס האצבע שבהר הכרמל</a:t>
            </a:r>
            <a:endParaRPr lang="en-US" sz="1800" dirty="0"/>
          </a:p>
          <a:p>
            <a:pPr rtl="1"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לפי האגדה המקומית, שמה מגיע מצורת הפתח – המזכירה בוהן של ענק</a:t>
            </a:r>
            <a:endParaRPr lang="en-US" sz="1800" dirty="0"/>
          </a:p>
          <a:p>
            <a:pPr rtl="1"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חדרים (חללים) מחוברים, בדומה לשלושת פרקי האצבע</a:t>
            </a:r>
            <a:endParaRPr lang="en-US" sz="1800" dirty="0"/>
          </a:p>
          <a:p>
            <a:pPr rtl="1"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נוצרה בתהליך קרסטי: מי גשמים המיסו בהדרגה את סלע הגיר לאורך אלפי שנים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64592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שמורת נחל המערות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237744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1710" y="298094"/>
            <a:ext cx="427939" cy="4279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417320"/>
            <a:ext cx="1072591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במדרון המערבי של הכרמל, במקום בו הנחל יוצא אל מישור החוף</a:t>
            </a:r>
            <a:endParaRPr lang="en-US" sz="1800" dirty="0"/>
          </a:p>
          <a:p>
            <a:pPr rtl="1"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מפארק הכרמל</a:t>
            </a:r>
            <a:endParaRPr lang="en-US" sz="1800" dirty="0"/>
          </a:p>
          <a:p>
            <a:pPr rtl="1"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אתר ארכיאולוגי מהחשובים בעולם, עם רצף ממצאים ייחודי באורכו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31520" y="5166360"/>
            <a:ext cx="5180076" cy="1234440"/>
          </a:xfrm>
          <a:prstGeom prst="roundRect">
            <a:avLst>
              <a:gd name="adj" fmla="val 7407"/>
            </a:avLst>
          </a:prstGeom>
          <a:solidFill>
            <a:srgbClr val="EFE6D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5239512"/>
            <a:ext cx="51800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943600"/>
            <a:ext cx="51800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שנת ההכרזה כאתר מורשת עולמי של אונסק"ו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77356" y="5166360"/>
            <a:ext cx="5180076" cy="1234440"/>
          </a:xfrm>
          <a:prstGeom prst="roundRect">
            <a:avLst>
              <a:gd name="adj" fmla="val 7407"/>
            </a:avLst>
          </a:prstGeom>
          <a:solidFill>
            <a:srgbClr val="EFE6D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277356" y="5239512"/>
            <a:ext cx="51800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277356" y="5943600"/>
            <a:ext cx="51800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שנות אבולוציה אנושית שהאתר מייצג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64592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 המערות של נחל המערות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237744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1710" y="298094"/>
            <a:ext cx="427939" cy="42793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554480"/>
            <a:ext cx="5180076" cy="1828800"/>
          </a:xfrm>
          <a:prstGeom prst="roundRect">
            <a:avLst>
              <a:gd name="adj" fmla="val 6000"/>
            </a:avLst>
          </a:prstGeom>
          <a:solidFill>
            <a:srgbClr val="EFE6D8"/>
          </a:solidFill>
          <a:ln/>
        </p:spPr>
      </p:sp>
      <p:sp>
        <p:nvSpPr>
          <p:cNvPr id="6" name="Shape 3"/>
          <p:cNvSpPr/>
          <p:nvPr/>
        </p:nvSpPr>
        <p:spPr>
          <a:xfrm>
            <a:off x="5225796" y="182880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804" y="189280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05840" y="178308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מערת הטבון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1005840" y="2468880"/>
            <a:ext cx="46314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„תבון“ = תנור אפייה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277356" y="1554480"/>
            <a:ext cx="5180076" cy="1828800"/>
          </a:xfrm>
          <a:prstGeom prst="roundRect">
            <a:avLst>
              <a:gd name="adj" fmla="val 6000"/>
            </a:avLst>
          </a:prstGeom>
          <a:solidFill>
            <a:srgbClr val="EFE6D8"/>
          </a:solidFill>
          <a:ln/>
        </p:spPr>
      </p:sp>
      <p:sp>
        <p:nvSpPr>
          <p:cNvPr id="11" name="Shape 7"/>
          <p:cNvSpPr/>
          <p:nvPr/>
        </p:nvSpPr>
        <p:spPr>
          <a:xfrm>
            <a:off x="10771632" y="1828800"/>
            <a:ext cx="411480" cy="411480"/>
          </a:xfrm>
          <a:prstGeom prst="ellipse">
            <a:avLst/>
          </a:prstGeom>
          <a:solidFill>
            <a:srgbClr val="5B6B3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1892808"/>
            <a:ext cx="283464" cy="28346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551676" y="178308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מערת ג'מל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551676" y="2468880"/>
            <a:ext cx="46314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„ג'מל“ = גמל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731520" y="3749040"/>
            <a:ext cx="5180076" cy="1828800"/>
          </a:xfrm>
          <a:prstGeom prst="roundRect">
            <a:avLst>
              <a:gd name="adj" fmla="val 6000"/>
            </a:avLst>
          </a:prstGeom>
          <a:solidFill>
            <a:srgbClr val="EFE6D8"/>
          </a:solidFill>
          <a:ln/>
        </p:spPr>
      </p:sp>
      <p:sp>
        <p:nvSpPr>
          <p:cNvPr id="16" name="Shape 11"/>
          <p:cNvSpPr/>
          <p:nvPr/>
        </p:nvSpPr>
        <p:spPr>
          <a:xfrm>
            <a:off x="5225796" y="4023360"/>
            <a:ext cx="411480" cy="411480"/>
          </a:xfrm>
          <a:prstGeom prst="ellipse">
            <a:avLst/>
          </a:prstGeom>
          <a:solidFill>
            <a:srgbClr val="8C5A3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804" y="4087368"/>
            <a:ext cx="283464" cy="28346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05840" y="397764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מערת סח'ול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1005840" y="4663440"/>
            <a:ext cx="46314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„סח'ול“ = גדי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277356" y="3749040"/>
            <a:ext cx="5180076" cy="1828800"/>
          </a:xfrm>
          <a:prstGeom prst="roundRect">
            <a:avLst>
              <a:gd name="adj" fmla="val 6000"/>
            </a:avLst>
          </a:prstGeom>
          <a:solidFill>
            <a:srgbClr val="EFE6D8"/>
          </a:solidFill>
          <a:ln/>
        </p:spPr>
      </p:sp>
      <p:sp>
        <p:nvSpPr>
          <p:cNvPr id="21" name="Shape 15"/>
          <p:cNvSpPr/>
          <p:nvPr/>
        </p:nvSpPr>
        <p:spPr>
          <a:xfrm>
            <a:off x="10771632" y="4023360"/>
            <a:ext cx="411480" cy="411480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640" y="4087368"/>
            <a:ext cx="283464" cy="28346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551676" y="397764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מערת הנחל (אל-והאד)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6551676" y="4663440"/>
            <a:ext cx="46314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„אל-והאד“ = נחל / ואדי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64592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מערת הטבון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237744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1710" y="298094"/>
            <a:ext cx="427939" cy="4279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417320"/>
            <a:ext cx="1072591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יושבה לסירוגין במשך כ-460,000 שנה (מלפני כ-500,000 עד כ-40,000 שנה)</a:t>
            </a:r>
            <a:endParaRPr lang="en-US" sz="1800" dirty="0"/>
          </a:p>
          <a:p>
            <a:pPr rtl="1"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נמצא בה שלד כמעט שלם של אישה ניאנדרטלית – הקבורה הניאנדרטלית העתיקה ביותר הידועה בעולם</a:t>
            </a:r>
            <a:endParaRPr lang="en-US" sz="1800" dirty="0"/>
          </a:p>
          <a:p>
            <a:pPr rtl="1"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 גולגולת „טבון 1“ גילתה יוסרה, פועלת מכפר סמוך</a:t>
            </a:r>
            <a:endParaRPr lang="en-US" sz="1800" dirty="0"/>
          </a:p>
          <a:p>
            <a:pPr rtl="1"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 החפירות (1929–1934) הובילה הארכיאולוגית הבריטית דורותי גארוד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64592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מערת סח'ול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237744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1710" y="298094"/>
            <a:ext cx="427939" cy="4279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417320"/>
            <a:ext cx="1072591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נמצאו בה כעשרה שלדים של הומו ספיינס (אדם מודרני)</a:t>
            </a:r>
            <a:endParaRPr lang="en-US" sz="1800" dirty="0"/>
          </a:p>
          <a:p>
            <a:pPr rtl="1"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חלקן נחשבות לקבורות המכוונות העתיקות הידועות בעולם</a:t>
            </a:r>
            <a:endParaRPr lang="en-US" sz="1800" dirty="0"/>
          </a:p>
          <a:p>
            <a:pPr rtl="1"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הימצאות ניאנדרטלים (בטבון) והומו ספיינס (בסח'ול) באותו אזור מעידה ששני המינים חיו זה לצד זה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64592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מערת הנחל והתרבות הנטופית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237744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1710" y="298094"/>
            <a:ext cx="427939" cy="4279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417320"/>
            <a:ext cx="1072591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מהאתרים הראשונים בארץ שבהם נחקרה התרבות הנטופית</a:t>
            </a:r>
            <a:endParaRPr lang="en-US" sz="1800" dirty="0"/>
          </a:p>
          <a:p>
            <a:pPr rtl="1"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תרבות מסוף התקופה האפיפליאוליתית – לפני תחילת החקלאות</a:t>
            </a:r>
            <a:endParaRPr lang="en-US" sz="1800" dirty="0"/>
          </a:p>
          <a:p>
            <a:pPr rtl="1"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התגלה יישוב קבע עם מבני מגורים וקירות אבן, מעל 100 קבורות, כלי שחיקה וחפצי אמנות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64592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 צור וגרזני יד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237744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1710" y="298094"/>
            <a:ext cx="427939" cy="4279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417320"/>
            <a:ext cx="1072591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מגרדות צור שימשו לגירוד בשר מעצמות ולעיבוד עורות של בעלי חיים</a:t>
            </a:r>
            <a:endParaRPr lang="en-US" sz="1800" dirty="0"/>
          </a:p>
          <a:p>
            <a:pPr rtl="1"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גרזני היד (handaxes) הפכו קטנים ומעוצבים יותר לאורך הדורות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64592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 הכרמל – שמורת ביוספרה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237744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1710" y="298094"/>
            <a:ext cx="427939" cy="4279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417320"/>
            <a:ext cx="1072591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שמורת ביוספרה = הכרה בינלאומית של אונסק"ו באזורים המאזנים בין שימור טבע לפעילות אדם בת-קיימא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31520" y="5166360"/>
            <a:ext cx="10725912" cy="1234440"/>
          </a:xfrm>
          <a:prstGeom prst="roundRect">
            <a:avLst>
              <a:gd name="adj" fmla="val 7407"/>
            </a:avLst>
          </a:prstGeom>
          <a:solidFill>
            <a:srgbClr val="EFE6D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5239512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אפריל 1996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94360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הכרזת אונסק"ו על הר הכרמל כשמורת ביוספרה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64592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נוצרו המערות?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237744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1710" y="298094"/>
            <a:ext cx="427939" cy="4279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417320"/>
            <a:ext cx="1072591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אזור הכרמל הוא אחד המקומות המשומרים בעולם עבור שונית אבן מאובנת, לאורך מישור החוף</a:t>
            </a:r>
            <a:endParaRPr lang="en-US" sz="1800" dirty="0"/>
          </a:p>
          <a:p>
            <a:pPr rtl="1"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תהליך קרסטי: מים המכילים מעט חומציות ממיסים בהדרגה את סלע הגיר</a:t>
            </a:r>
            <a:endParaRPr lang="en-US" sz="1800" dirty="0"/>
          </a:p>
          <a:p>
            <a:pPr rtl="1"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עם הזמן נוצרים מהתהליך הזה מערות וחללים תת-קרקעיים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64592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 שיוצאים לדרך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237744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1710" y="298094"/>
            <a:ext cx="427939" cy="4279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417320"/>
            <a:ext cx="1072591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המסלול למערת האצבע כולל טיפוס מאתגר יחסית</a:t>
            </a:r>
            <a:endParaRPr lang="en-US" sz="1800" dirty="0"/>
          </a:p>
          <a:p>
            <a:pPr rtl="1"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מתאים למטיילים בכושר סביר</a:t>
            </a:r>
            <a:endParaRPr lang="en-US" sz="1800" dirty="0"/>
          </a:p>
          <a:p>
            <a:pPr rtl="1" algn="r" marL="228600" indent="-228600">
              <a:spcAft>
                <a:spcPts val="1600"/>
              </a:spcAft>
              <a:buSzPct val="100000"/>
              <a:buChar char="●"/>
            </a:pPr>
            <a:r>
              <a:rPr lang="en-US" sz="18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פחות מומלץ לבעלי קשיי הליכה או לילדים קטנים מאוד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233172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rtl="1" algn="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מוכנים לטיול!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794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C9A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עכשיו אתם יודעים הכל – בהצלחה בבוחן ובטיול בשטח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2407158" cy="1234440"/>
          </a:xfrm>
          <a:prstGeom prst="roundRect">
            <a:avLst>
              <a:gd name="adj" fmla="val 7407"/>
            </a:avLst>
          </a:prstGeom>
          <a:solidFill>
            <a:srgbClr val="EFE6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850392"/>
            <a:ext cx="24071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554480"/>
            <a:ext cx="24071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מערות מורשת עולמי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04438" y="777240"/>
            <a:ext cx="2407158" cy="1234440"/>
          </a:xfrm>
          <a:prstGeom prst="roundRect">
            <a:avLst>
              <a:gd name="adj" fmla="val 7407"/>
            </a:avLst>
          </a:prstGeom>
          <a:solidFill>
            <a:srgbClr val="EFE6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04438" y="850392"/>
            <a:ext cx="24071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504438" y="1554480"/>
            <a:ext cx="24071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שנות אבולוציה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7356" y="777240"/>
            <a:ext cx="2407158" cy="1234440"/>
          </a:xfrm>
          <a:prstGeom prst="roundRect">
            <a:avLst>
              <a:gd name="adj" fmla="val 7407"/>
            </a:avLst>
          </a:prstGeom>
          <a:solidFill>
            <a:srgbClr val="EFE6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77356" y="850392"/>
            <a:ext cx="24071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77356" y="1554480"/>
            <a:ext cx="24071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הכרזת אונסק"ו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0274" y="777240"/>
            <a:ext cx="2407158" cy="1234440"/>
          </a:xfrm>
          <a:prstGeom prst="roundRect">
            <a:avLst>
              <a:gd name="adj" fmla="val 7407"/>
            </a:avLst>
          </a:prstGeom>
          <a:solidFill>
            <a:srgbClr val="EFE6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50274" y="850392"/>
            <a:ext cx="24071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1996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050274" y="1554480"/>
            <a:ext cx="24071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2D1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שמורת ביוספרה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mel">
  <a:themeElements>
    <a:clrScheme name="Carmel">
      <a:dk1>
        <a:srgbClr val="2D1B0E"/>
      </a:dk1>
      <a:lt1>
        <a:srgbClr val="FFFFFF"/>
      </a:lt1>
      <a:dk2>
        <a:srgbClr val="4A2E1C"/>
      </a:dk2>
      <a:lt2>
        <a:srgbClr val="EFE6D8"/>
      </a:lt2>
      <a:accent1>
        <a:srgbClr val="B85042"/>
      </a:accent1>
      <a:accent2>
        <a:srgbClr val="A7BEAE"/>
      </a:accent2>
      <a:accent3>
        <a:srgbClr val="4A2E1C"/>
      </a:accent3>
      <a:accent4>
        <a:srgbClr val="C9A26B"/>
      </a:accent4>
      <a:accent5>
        <a:srgbClr val="5B6B3F"/>
      </a:accent5>
      <a:accent6>
        <a:srgbClr val="8C5A3C"/>
      </a:accent6>
      <a:hlink>
        <a:srgbClr val="B85042"/>
      </a:hlink>
      <a:folHlink>
        <a:srgbClr val="5B6B3F"/>
      </a:folHlink>
    </a:clrScheme>
    <a:fontScheme name="Carme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2026-10-17T17:41:56Z</dcterms:created>
  <dcterms:modified xsi:type="dcterms:W3CDTF">2026-10-17T17:41:56Z</dcterms:modified>
</cp:coreProperties>
</file>